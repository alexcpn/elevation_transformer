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111e5e5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111e5e5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11e5e5f0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111e5e5f0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11e5e5f0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11e5e5f0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111e5e5f0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111e5e5f0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111e5e5f0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111e5e5f0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111e5e5f0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111e5e5f0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111e5e5f0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111e5e5f0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elevation_data:        (B, 768)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unsqueeze:       (B, 768, 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linear embedding: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elevation_embedding:   (B, 768, 512)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pe:                    (1, 768, 512)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broadcasting: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pe:                    (B, 768, 512)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terrain tokens: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elevation_embedding + pe = (B, 768, 512)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111e5e5f0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111e5e5f0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111e5e5f0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111e5e5f0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11e5e5f0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111e5e5f0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111e5e5f0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111e5e5f0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11e5e5f0_91_0)">
  <p:cSld name="Generated (g3f111e5e5f0_91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alexcpn/elevation_transformer/blob/master/pathloss_transformer.p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hyperlink" Target="https://github.com/alexcpn/elevation_transform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571500" y="762000"/>
            <a:ext cx="8001000" cy="1562100"/>
            <a:chOff x="0" y="0"/>
            <a:chExt cx="8001000" cy="15621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1524000"/>
              <a:ext cx="80010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0" y="0"/>
              <a:ext cx="800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6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Transformer Based Surrogate Model for Radio Path Loss Prediction</a:t>
              </a:r>
              <a:endParaRPr b="1" sz="306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2040">
                  <a:solidFill>
                    <a:srgbClr val="475569"/>
                  </a:solidFill>
                </a:rPr>
                <a:t>Exploring Attention Mechanisms in RF Propagation</a:t>
              </a:r>
              <a:endParaRPr b="0" sz="204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14"/>
          <p:cNvSpPr txBox="1"/>
          <p:nvPr/>
        </p:nvSpPr>
        <p:spPr>
          <a:xfrm>
            <a:off x="571500" y="36195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6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b="0" sz="1665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166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Alex Punnen</a:t>
            </a:r>
            <a:endParaRPr b="1" sz="1665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5524500" y="2286000"/>
            <a:ext cx="2667000" cy="2667000"/>
            <a:chOff x="-381000" y="-381000"/>
            <a:chExt cx="2667000" cy="2667000"/>
          </a:xfrm>
        </p:grpSpPr>
        <p:sp>
          <p:nvSpPr>
            <p:cNvPr id="60" name="Google Shape;60;p14"/>
            <p:cNvSpPr/>
            <p:nvPr/>
          </p:nvSpPr>
          <p:spPr>
            <a:xfrm>
              <a:off x="-381000" y="-381000"/>
              <a:ext cx="2667000" cy="2667000"/>
            </a:xfrm>
            <a:prstGeom prst="ellipse">
              <a:avLst/>
            </a:prstGeom>
            <a:solidFill>
              <a:srgbClr val="E2E8F0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0" y="0"/>
              <a:ext cx="1905000" cy="1905000"/>
            </a:xfrm>
            <a:custGeom>
              <a:rect b="b" l="l" r="r" t="t"/>
              <a:pathLst>
                <a:path extrusionOk="0" fill="none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666750" y="476250"/>
              <a:ext cx="571500" cy="952500"/>
            </a:xfrm>
            <a:prstGeom prst="roundRect">
              <a:avLst>
                <a:gd fmla="val 6666" name="adj"/>
              </a:avLst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857250" y="666750"/>
              <a:ext cx="381000" cy="762000"/>
            </a:xfrm>
            <a:prstGeom prst="roundRect">
              <a:avLst>
                <a:gd fmla="val 10000" name="adj"/>
              </a:avLst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0275" y="245900"/>
            <a:ext cx="4792850" cy="47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86400" y="1180925"/>
            <a:ext cx="2343000" cy="361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marR="152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250"/>
              <a:buChar char="●"/>
            </a:pPr>
            <a:r>
              <a:rPr lang="en" sz="1250">
                <a:solidFill>
                  <a:srgbClr val="444746"/>
                </a:solidFill>
                <a:highlight>
                  <a:srgbClr val="F0F4F9"/>
                </a:highlight>
              </a:rPr>
              <a:t>For Interference Mitigation (e.g, AFC 6GHz frequency coordination)</a:t>
            </a:r>
            <a:endParaRPr sz="1250">
              <a:solidFill>
                <a:srgbClr val="444746"/>
              </a:solidFill>
              <a:highlight>
                <a:srgbClr val="F0F4F9"/>
              </a:highlight>
            </a:endParaRPr>
          </a:p>
          <a:p>
            <a:pPr indent="-307975" lvl="0" marL="457200" marR="152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250"/>
              <a:buChar char="●"/>
            </a:pPr>
            <a:r>
              <a:rPr lang="en" sz="1250">
                <a:solidFill>
                  <a:srgbClr val="444746"/>
                </a:solidFill>
                <a:highlight>
                  <a:srgbClr val="F0F4F9"/>
                </a:highlight>
              </a:rPr>
              <a:t>Efficient Spectrum Management and dynamic allocation (Link Budget)</a:t>
            </a:r>
            <a:endParaRPr sz="1250">
              <a:solidFill>
                <a:srgbClr val="444746"/>
              </a:solidFill>
              <a:highlight>
                <a:srgbClr val="F0F4F9"/>
              </a:highlight>
            </a:endParaRPr>
          </a:p>
          <a:p>
            <a:pPr indent="-307975" lvl="0" marL="457200" marR="152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250"/>
              <a:buChar char="●"/>
            </a:pPr>
            <a:r>
              <a:rPr lang="en" sz="1250">
                <a:solidFill>
                  <a:srgbClr val="444746"/>
                </a:solidFill>
                <a:highlight>
                  <a:srgbClr val="F0F4F9"/>
                </a:highlight>
              </a:rPr>
              <a:t>Crucial for maximizing network coverage,data rate and capacity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Radio Pathloss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6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76" name="Google Shape;76;p16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Context Contd - </a:t>
              </a: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ITM Path Loss Computations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6"/>
          <p:cNvSpPr txBox="1"/>
          <p:nvPr/>
        </p:nvSpPr>
        <p:spPr>
          <a:xfrm>
            <a:off x="381000" y="1047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complex statistical model used for precision radio propagation prediction</a:t>
            </a:r>
            <a:r>
              <a:rPr lang="en" sz="1300">
                <a:solidFill>
                  <a:srgbClr val="444444"/>
                </a:solidFill>
              </a:rPr>
              <a:t> usually when Transmitter and </a:t>
            </a:r>
            <a:r>
              <a:rPr lang="en" sz="1300">
                <a:solidFill>
                  <a:srgbClr val="444444"/>
                </a:solidFill>
              </a:rPr>
              <a:t>Receiver</a:t>
            </a:r>
            <a:r>
              <a:rPr lang="en" sz="1300">
                <a:solidFill>
                  <a:srgbClr val="444444"/>
                </a:solidFill>
              </a:rPr>
              <a:t> are far off</a:t>
            </a:r>
            <a:endParaRPr b="0" sz="13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6"/>
          <p:cNvGrpSpPr/>
          <p:nvPr/>
        </p:nvGrpSpPr>
        <p:grpSpPr>
          <a:xfrm>
            <a:off x="381000" y="1524000"/>
            <a:ext cx="4095900" cy="2190900"/>
            <a:chOff x="0" y="0"/>
            <a:chExt cx="4095900" cy="2190900"/>
          </a:xfrm>
        </p:grpSpPr>
        <p:sp>
          <p:nvSpPr>
            <p:cNvPr id="80" name="Google Shape;80;p16"/>
            <p:cNvSpPr/>
            <p:nvPr/>
          </p:nvSpPr>
          <p:spPr>
            <a:xfrm>
              <a:off x="0" y="0"/>
              <a:ext cx="4095900" cy="21909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CRITICAL INPUT PARAMETERS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190500" y="57150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Arial"/>
                <a:buChar char="●"/>
              </a:pPr>
              <a:r>
                <a:rPr b="1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Elevation Profile:</a:t>
              </a:r>
              <a:r>
                <a:rPr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Detailed terrain data between transmitter and receiver.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Arial"/>
                <a:buChar char="●"/>
              </a:pPr>
              <a:r>
                <a:rPr b="1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Link Parameters:</a:t>
              </a:r>
              <a:r>
                <a:rPr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Frequency, antenna heights, and polarization settings.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Arial"/>
                <a:buChar char="●"/>
              </a:pPr>
              <a:r>
                <a:rPr b="1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Environmental Factors:</a:t>
              </a:r>
              <a:r>
                <a:rPr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Atmospheric conditions, climate, and ground conductivity.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16"/>
          <p:cNvGrpSpPr/>
          <p:nvPr/>
        </p:nvGrpSpPr>
        <p:grpSpPr>
          <a:xfrm>
            <a:off x="4667250" y="1524000"/>
            <a:ext cx="4095900" cy="2190900"/>
            <a:chOff x="0" y="0"/>
            <a:chExt cx="4095900" cy="2190900"/>
          </a:xfrm>
        </p:grpSpPr>
        <p:sp>
          <p:nvSpPr>
            <p:cNvPr id="84" name="Google Shape;84;p16"/>
            <p:cNvSpPr/>
            <p:nvPr/>
          </p:nvSpPr>
          <p:spPr>
            <a:xfrm>
              <a:off x="0" y="0"/>
              <a:ext cx="4095900" cy="2190900"/>
            </a:xfrm>
            <a:prstGeom prst="roundRect">
              <a:avLst>
                <a:gd fmla="val 4347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lang="en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FC WIFI 6E APPLICATION</a:t>
              </a:r>
              <a:endParaRPr b="1" sz="14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190500" y="57150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Applied for distances up to </a:t>
              </a:r>
              <a:r>
                <a:rPr b="1" lang="en" sz="115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200 km</a:t>
              </a:r>
              <a:r>
                <a:rPr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to calculate interference with Microwave Transmitters.</a:t>
              </a:r>
              <a:endParaRPr sz="115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CHALLENGE:</a:t>
              </a:r>
              <a:endParaRPr b="1" sz="1050">
                <a:solidFill>
                  <a:srgbClr val="0369A1"/>
                </a:solidFill>
                <a:highlight>
                  <a:srgbClr val="E0F2FE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0C4A6E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Requires massive elevation profile arrays and complex mathematical algorithms.</a:t>
              </a:r>
              <a:endParaRPr sz="1050">
                <a:solidFill>
                  <a:srgbClr val="0C4A6E"/>
                </a:solidFill>
                <a:highlight>
                  <a:srgbClr val="E0F2FE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381000" y="3905250"/>
            <a:ext cx="8382000" cy="571500"/>
            <a:chOff x="0" y="0"/>
            <a:chExt cx="8382000" cy="5715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FF1F2"/>
            </a:solidFill>
            <a:ln cap="flat" cmpd="sng" w="9525">
              <a:solidFill>
                <a:srgbClr val="FEC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BE123C"/>
                  </a:solidFill>
                  <a:latin typeface="Arial"/>
                  <a:ea typeface="Arial"/>
                  <a:cs typeface="Arial"/>
                  <a:sym typeface="Arial"/>
                </a:rPr>
                <a:t>⚠️ ITM calculation is extremely compute-intensive due to statistical algorithm complexity and the large elevation data.</a:t>
              </a:r>
              <a:endParaRPr b="1" sz="1300">
                <a:solidFill>
                  <a:srgbClr val="BE1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95" name="Google Shape;95;p17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Idea: Using Transformer Model as a ITM surrogate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381000" y="1333500"/>
            <a:ext cx="4095900" cy="2667000"/>
            <a:chOff x="0" y="0"/>
            <a:chExt cx="4095900" cy="2667000"/>
          </a:xfrm>
        </p:grpSpPr>
        <p:sp>
          <p:nvSpPr>
            <p:cNvPr id="98" name="Google Shape;98;p17"/>
            <p:cNvSpPr/>
            <p:nvPr/>
          </p:nvSpPr>
          <p:spPr>
            <a:xfrm>
              <a:off x="0" y="0"/>
              <a:ext cx="4095900" cy="2667000"/>
            </a:xfrm>
            <a:prstGeom prst="roundRect">
              <a:avLst>
                <a:gd fmla="val 3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190500" y="5715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Utilize the </a:t>
              </a:r>
              <a:r>
                <a:rPr b="1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Cross-Attention mechanism</a:t>
              </a:r>
              <a:r>
                <a:rPr b="0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within a Transformer model structure.</a:t>
              </a:r>
              <a:endParaRPr b="0"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Ari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Process complex elevation profile arrays as sequence data.</a:t>
              </a:r>
              <a:endParaRPr b="0"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Ari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Analyze attention weights to find strong dependencies with output path loss.</a:t>
              </a:r>
              <a:endParaRPr b="0"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>
            <a:off x="4667250" y="1333500"/>
            <a:ext cx="4095900" cy="2667000"/>
            <a:chOff x="0" y="0"/>
            <a:chExt cx="4095900" cy="2667000"/>
          </a:xfrm>
        </p:grpSpPr>
        <p:sp>
          <p:nvSpPr>
            <p:cNvPr id="102" name="Google Shape;102;p17"/>
            <p:cNvSpPr/>
            <p:nvPr/>
          </p:nvSpPr>
          <p:spPr>
            <a:xfrm>
              <a:off x="0" y="0"/>
              <a:ext cx="4095900" cy="2667000"/>
            </a:xfrm>
            <a:prstGeom prst="roundRect">
              <a:avLst>
                <a:gd fmla="val 3571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OBJECTIVE &amp; TARGET OUTCOMES</a:t>
              </a:r>
              <a:endParaRPr b="1" sz="14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7"/>
            <p:cNvSpPr txBox="1"/>
            <p:nvPr/>
          </p:nvSpPr>
          <p:spPr>
            <a:xfrm>
              <a:off x="190500" y="5715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Leverage Tran</a:t>
              </a:r>
              <a:r>
                <a:rPr lang="en" sz="1150">
                  <a:solidFill>
                    <a:srgbClr val="0C4A6E"/>
                  </a:solidFill>
                </a:rPr>
                <a:t>sformer 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attention </a:t>
              </a:r>
              <a:r>
                <a:rPr lang="en" sz="1150">
                  <a:solidFill>
                    <a:srgbClr val="0C4A6E"/>
                  </a:solidFill>
                </a:rPr>
                <a:t>mechanism 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for precise pathloss prediction.</a:t>
              </a:r>
              <a:endParaRPr b="0" sz="115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C4A6E"/>
                </a:buClr>
                <a:buSzPts val="1150"/>
                <a:buFont typeface="Arial"/>
                <a:buAutoNum type="arabicPeriod"/>
              </a:pPr>
              <a:r>
                <a:rPr b="1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Match: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Accurate ITM pathloss calculations with reduced compute intensity.</a:t>
              </a:r>
              <a:endParaRPr b="0" sz="115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C4A6E"/>
                </a:buClr>
                <a:buSzPts val="1150"/>
                <a:buFont typeface="Arial"/>
                <a:buAutoNum type="arabicPeriod"/>
              </a:pPr>
              <a:r>
                <a:rPr b="1" lang="en" sz="1150">
                  <a:solidFill>
                    <a:srgbClr val="0C4A6E"/>
                  </a:solidFill>
                </a:rPr>
                <a:t>Parallelize</a:t>
              </a:r>
              <a:r>
                <a:rPr b="1" lang="en" sz="1150">
                  <a:solidFill>
                    <a:srgbClr val="0C4A6E"/>
                  </a:solidFill>
                </a:rPr>
                <a:t>:</a:t>
              </a:r>
              <a:r>
                <a:rPr lang="en" sz="1150">
                  <a:solidFill>
                    <a:srgbClr val="0C4A6E"/>
                  </a:solidFill>
                </a:rPr>
                <a:t> Computation with GPU</a:t>
              </a:r>
              <a:endParaRPr sz="1150">
                <a:solidFill>
                  <a:srgbClr val="0C4A6E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381000" y="904875"/>
            <a:ext cx="571500" cy="38100"/>
          </a:xfrm>
          <a:prstGeom prst="rect">
            <a:avLst/>
          </a:prstGeom>
          <a:solidFill>
            <a:srgbClr val="005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8"/>
          <p:cNvGrpSpPr/>
          <p:nvPr/>
        </p:nvGrpSpPr>
        <p:grpSpPr>
          <a:xfrm>
            <a:off x="381000" y="1238250"/>
            <a:ext cx="4095900" cy="1285800"/>
            <a:chOff x="0" y="0"/>
            <a:chExt cx="4095900" cy="1285800"/>
          </a:xfrm>
        </p:grpSpPr>
        <p:sp>
          <p:nvSpPr>
            <p:cNvPr id="111" name="Google Shape;111;p18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 txBox="1"/>
            <p:nvPr/>
          </p:nvSpPr>
          <p:spPr>
            <a:xfrm>
              <a:off x="190500" y="142875"/>
              <a:ext cx="3714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INPUT PROCESSING</a:t>
              </a:r>
              <a:endParaRPr b="1" sz="13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Elevation profile treated as a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1D sequence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Linear layer projects values into high-dimensional embeddings (d_model).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4667250" y="1238250"/>
            <a:ext cx="4095900" cy="1285800"/>
            <a:chOff x="0" y="0"/>
            <a:chExt cx="4095900" cy="1285800"/>
          </a:xfrm>
        </p:grpSpPr>
        <p:sp>
          <p:nvSpPr>
            <p:cNvPr id="114" name="Google Shape;114;p18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190500" y="142875"/>
              <a:ext cx="3714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SPATIAL AWARENESS</a:t>
              </a:r>
              <a:endParaRPr b="1" sz="13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Sinusoidal positional encoding identifies terrain point locations along the path.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381000" y="2667000"/>
            <a:ext cx="4095900" cy="1381200"/>
            <a:chOff x="0" y="0"/>
            <a:chExt cx="4095900" cy="1381200"/>
          </a:xfrm>
        </p:grpSpPr>
        <p:sp>
          <p:nvSpPr>
            <p:cNvPr id="117" name="Google Shape;117;p18"/>
            <p:cNvSpPr/>
            <p:nvPr/>
          </p:nvSpPr>
          <p:spPr>
            <a:xfrm>
              <a:off x="0" y="0"/>
              <a:ext cx="4095900" cy="1381200"/>
            </a:xfrm>
            <a:prstGeom prst="roundRect">
              <a:avLst>
                <a:gd fmla="val 689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190500" y="142875"/>
              <a:ext cx="3714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TRANSFORMER CORE</a:t>
              </a:r>
              <a:endParaRPr b="1" sz="13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C4A6E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Encoder processes sequences using </a:t>
              </a:r>
              <a:r>
                <a:rPr b="1"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self-attention</a:t>
              </a:r>
              <a:r>
                <a:rPr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C4A6E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Scalar link features embedded as a single context token.</a:t>
              </a:r>
              <a:endParaRPr sz="110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8"/>
          <p:cNvGrpSpPr/>
          <p:nvPr/>
        </p:nvGrpSpPr>
        <p:grpSpPr>
          <a:xfrm>
            <a:off x="4667250" y="2667000"/>
            <a:ext cx="4095900" cy="1381200"/>
            <a:chOff x="0" y="0"/>
            <a:chExt cx="4095900" cy="1381200"/>
          </a:xfrm>
        </p:grpSpPr>
        <p:sp>
          <p:nvSpPr>
            <p:cNvPr id="120" name="Google Shape;120;p18"/>
            <p:cNvSpPr/>
            <p:nvPr/>
          </p:nvSpPr>
          <p:spPr>
            <a:xfrm>
              <a:off x="0" y="0"/>
              <a:ext cx="4095900" cy="1381200"/>
            </a:xfrm>
            <a:prstGeom prst="roundRect">
              <a:avLst>
                <a:gd fmla="val 689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190500" y="142875"/>
              <a:ext cx="3714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ATTENTION &amp; PREDICTION</a:t>
              </a:r>
              <a:endParaRPr b="1" sz="13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C4A6E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Cross-attention</a:t>
              </a:r>
              <a:r>
                <a:rPr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links scalar tokens to terrain positions.</a:t>
              </a:r>
              <a:endParaRPr sz="110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C4A6E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Prediction head combines context for final path loss value.</a:t>
              </a:r>
              <a:endParaRPr sz="110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381000" y="4191000"/>
            <a:ext cx="8382000" cy="571500"/>
            <a:chOff x="0" y="0"/>
            <a:chExt cx="8382000" cy="571500"/>
          </a:xfrm>
        </p:grpSpPr>
        <p:sp>
          <p:nvSpPr>
            <p:cNvPr id="123" name="Google Shape;123;p18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 u="sng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3"/>
                </a:rPr>
                <a:t>https://github.com/alexcpn/elevation_transformer/blob/master/pathloss_transformer.py</a:t>
              </a:r>
              <a:endParaRPr b="1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8"/>
          <p:cNvSpPr txBox="1"/>
          <p:nvPr>
            <p:ph type="title"/>
          </p:nvPr>
        </p:nvSpPr>
        <p:spPr>
          <a:xfrm>
            <a:off x="381000" y="381000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Model Architecture - A Custom Transformer Model</a:t>
            </a:r>
            <a:endParaRPr b="1" sz="2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9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131" name="Google Shape;131;p19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Model Parameter Flow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19"/>
          <p:cNvGrpSpPr/>
          <p:nvPr/>
        </p:nvGrpSpPr>
        <p:grpSpPr>
          <a:xfrm>
            <a:off x="381000" y="1238250"/>
            <a:ext cx="8382000" cy="1524000"/>
            <a:chOff x="0" y="0"/>
            <a:chExt cx="8382000" cy="1524000"/>
          </a:xfrm>
        </p:grpSpPr>
        <p:sp>
          <p:nvSpPr>
            <p:cNvPr id="134" name="Google Shape;134;p19"/>
            <p:cNvSpPr/>
            <p:nvPr/>
          </p:nvSpPr>
          <p:spPr>
            <a:xfrm>
              <a:off x="0" y="0"/>
              <a:ext cx="8382000" cy="15240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190500" y="19050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Core Data Flow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Full Elevation Sequence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TransformerEncoder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2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Scalar Feature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Linear Projection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2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" sz="12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Cross-Attention Layer</a:t>
              </a: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200">
                  <a:solidFill>
                    <a:srgbClr val="FFFFFF"/>
                  </a:solidFill>
                  <a:highlight>
                    <a:srgbClr val="0369A1"/>
                  </a:highlight>
                  <a:latin typeface="Arial"/>
                  <a:ea typeface="Arial"/>
                  <a:cs typeface="Arial"/>
                  <a:sym typeface="Arial"/>
                </a:rPr>
                <a:t>One Scalar Output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9"/>
          <p:cNvGrpSpPr/>
          <p:nvPr/>
        </p:nvGrpSpPr>
        <p:grpSpPr>
          <a:xfrm>
            <a:off x="381000" y="2952750"/>
            <a:ext cx="8382000" cy="1428900"/>
            <a:chOff x="0" y="0"/>
            <a:chExt cx="8382000" cy="1428900"/>
          </a:xfrm>
        </p:grpSpPr>
        <p:sp>
          <p:nvSpPr>
            <p:cNvPr id="137" name="Google Shape;137;p19"/>
            <p:cNvSpPr/>
            <p:nvPr/>
          </p:nvSpPr>
          <p:spPr>
            <a:xfrm>
              <a:off x="0" y="0"/>
              <a:ext cx="8382000" cy="1428900"/>
            </a:xfrm>
            <a:prstGeom prst="roundRect">
              <a:avLst>
                <a:gd fmla="val 666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238125" y="190500"/>
              <a:ext cx="7905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Architectural Strategy</a:t>
              </a:r>
              <a:endParaRPr b="1" sz="13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BERT-like Strategy: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Uses an </a:t>
              </a:r>
              <a:r>
                <a:rPr b="1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encoder-only transformer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with </a:t>
              </a:r>
              <a:r>
                <a:rPr b="0" i="1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full self-attention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over the entire elevation sequence.</a:t>
              </a:r>
              <a:endParaRPr b="0" sz="115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Applying </a:t>
              </a:r>
              <a:r>
                <a:rPr b="1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cross-attention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and an </a:t>
              </a:r>
              <a:r>
                <a:rPr b="1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MLP head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, the model predicts the final </a:t>
              </a:r>
              <a:r>
                <a:rPr b="0" lang="en" sz="1150">
                  <a:solidFill>
                    <a:srgbClr val="0C4A6E"/>
                  </a:solidFill>
                  <a:highlight>
                    <a:srgbClr val="BAE6FD"/>
                  </a:highlight>
                  <a:latin typeface="Arial"/>
                  <a:ea typeface="Arial"/>
                  <a:cs typeface="Arial"/>
                  <a:sym typeface="Arial"/>
                </a:rPr>
                <a:t>scalar path-loss value</a:t>
              </a:r>
              <a:r>
                <a:rPr b="0" lang="en" sz="1150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50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9"/>
          <p:cNvGrpSpPr/>
          <p:nvPr/>
        </p:nvGrpSpPr>
        <p:grpSpPr>
          <a:xfrm>
            <a:off x="381000" y="4572000"/>
            <a:ext cx="8382000" cy="381000"/>
            <a:chOff x="0" y="0"/>
            <a:chExt cx="8382000" cy="381000"/>
          </a:xfrm>
        </p:grpSpPr>
        <p:sp>
          <p:nvSpPr>
            <p:cNvPr id="140" name="Google Shape;140;p19"/>
            <p:cNvSpPr/>
            <p:nvPr/>
          </p:nvSpPr>
          <p:spPr>
            <a:xfrm>
              <a:off x="0" y="0"/>
              <a:ext cx="8382000" cy="381000"/>
            </a:xfrm>
            <a:prstGeom prst="roundRect">
              <a:avLst>
                <a:gd fmla="val 200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 u="sng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rPr>
                <a:t>Model Summary: Sequence Processing via Cross-Attention</a:t>
              </a:r>
              <a:endParaRPr b="1" sz="100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 title="cross_atten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1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152" name="Google Shape;152;p21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Details</a:t>
              </a: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: Positional Encoding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21"/>
          <p:cNvGrpSpPr/>
          <p:nvPr/>
        </p:nvGrpSpPr>
        <p:grpSpPr>
          <a:xfrm>
            <a:off x="381000" y="1143000"/>
            <a:ext cx="4095900" cy="3238500"/>
            <a:chOff x="0" y="0"/>
            <a:chExt cx="4095900" cy="3238500"/>
          </a:xfrm>
        </p:grpSpPr>
        <p:sp>
          <p:nvSpPr>
            <p:cNvPr id="155" name="Google Shape;155;p21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29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1"/>
            <p:cNvSpPr txBox="1"/>
            <p:nvPr/>
          </p:nvSpPr>
          <p:spPr>
            <a:xfrm>
              <a:off x="190500" y="1905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IMPLEMENTATION DETAILS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implementation utilizes the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PyTorch NN module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to define the model's spatial awareness component.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Sinusoidal Encoding: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Injects relative position information into the terrain sequence.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Dimension Mapping: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Projects input features into d_model</a:t>
              </a:r>
              <a:r>
                <a:rPr lang="en" sz="1100">
                  <a:solidFill>
                    <a:srgbClr val="334155"/>
                  </a:solidFill>
                </a:rPr>
                <a:t>=512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embedding space.</a:t>
              </a:r>
              <a:r>
                <a:rPr lang="en" sz="1100">
                  <a:solidFill>
                    <a:srgbClr val="334155"/>
                  </a:solidFill>
                </a:rPr>
                <a:t> (B, 768) -&gt; (B, 768, 512) (This 512 is learnable)</a:t>
              </a:r>
              <a:endParaRPr sz="1100">
                <a:solidFill>
                  <a:srgbClr val="334155"/>
                </a:solidFill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</a:rPr>
                <a:t>2. </a:t>
              </a:r>
              <a:r>
                <a:rPr b="1" lang="en" sz="1100">
                  <a:solidFill>
                    <a:srgbClr val="334155"/>
                  </a:solidFill>
                </a:rPr>
                <a:t>Add </a:t>
              </a:r>
              <a:r>
                <a:rPr b="1" lang="en" sz="1100">
                  <a:solidFill>
                    <a:srgbClr val="334155"/>
                  </a:solidFill>
                </a:rPr>
                <a:t>Position</a:t>
              </a:r>
              <a:r>
                <a:rPr b="1" lang="en" sz="1100">
                  <a:solidFill>
                    <a:srgbClr val="334155"/>
                  </a:solidFill>
                </a:rPr>
                <a:t> Vector</a:t>
              </a:r>
              <a:r>
                <a:rPr lang="en" sz="1100">
                  <a:solidFill>
                    <a:srgbClr val="334155"/>
                  </a:solidFill>
                </a:rPr>
                <a:t>:(1,768,512) this is one time calculated non trainable: Broadcast</a:t>
              </a:r>
              <a:endParaRPr sz="1100">
                <a:solidFill>
                  <a:srgbClr val="334155"/>
                </a:solidFill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</a:rPr>
                <a:t>Think of it as adding a 512 position signal to each elevation point (see forward pass)</a:t>
              </a:r>
              <a:endParaRPr sz="11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1"/>
          <p:cNvGrpSpPr/>
          <p:nvPr/>
        </p:nvGrpSpPr>
        <p:grpSpPr>
          <a:xfrm>
            <a:off x="4667250" y="1143000"/>
            <a:ext cx="4095900" cy="3238500"/>
            <a:chOff x="0" y="0"/>
            <a:chExt cx="4095900" cy="3238500"/>
          </a:xfrm>
        </p:grpSpPr>
        <p:sp>
          <p:nvSpPr>
            <p:cNvPr id="158" name="Google Shape;158;p21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294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" name="Google Shape;159;p21"/>
            <p:cNvPicPr preferRelativeResize="0"/>
            <p:nvPr/>
          </p:nvPicPr>
          <p:blipFill rotWithShape="1">
            <a:blip r:embed="rId4">
              <a:alphaModFix/>
            </a:blip>
            <a:srcRect b="7714" l="0" r="0" t="7705"/>
            <a:stretch/>
          </p:blipFill>
          <p:spPr>
            <a:xfrm>
              <a:off x="190500" y="1905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21"/>
          <p:cNvGrpSpPr/>
          <p:nvPr/>
        </p:nvGrpSpPr>
        <p:grpSpPr>
          <a:xfrm>
            <a:off x="381000" y="4572000"/>
            <a:ext cx="8382000" cy="381000"/>
            <a:chOff x="0" y="0"/>
            <a:chExt cx="8382000" cy="381000"/>
          </a:xfrm>
        </p:grpSpPr>
        <p:sp>
          <p:nvSpPr>
            <p:cNvPr id="161" name="Google Shape;161;p21"/>
            <p:cNvSpPr/>
            <p:nvPr/>
          </p:nvSpPr>
          <p:spPr>
            <a:xfrm>
              <a:off x="0" y="0"/>
              <a:ext cx="8382000" cy="381000"/>
            </a:xfrm>
            <a:prstGeom prst="roundRect">
              <a:avLst>
                <a:gd fmla="val 200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 u="sng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View Full Implementation on GitHub</a:t>
              </a:r>
              <a:endParaRPr b="1" sz="100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22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168" name="Google Shape;168;p22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Details: Elevation Encoding and Cross Attention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22"/>
          <p:cNvGrpSpPr/>
          <p:nvPr/>
        </p:nvGrpSpPr>
        <p:grpSpPr>
          <a:xfrm>
            <a:off x="381000" y="1238250"/>
            <a:ext cx="4095900" cy="3333900"/>
            <a:chOff x="0" y="0"/>
            <a:chExt cx="4095900" cy="3333900"/>
          </a:xfrm>
        </p:grpSpPr>
        <p:sp>
          <p:nvSpPr>
            <p:cNvPr id="171" name="Google Shape;171;p22"/>
            <p:cNvSpPr/>
            <p:nvPr/>
          </p:nvSpPr>
          <p:spPr>
            <a:xfrm>
              <a:off x="0" y="0"/>
              <a:ext cx="4095900" cy="33339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190500" y="190500"/>
              <a:ext cx="3714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KEY ARCHITECTURAL COMPONENTS</a:t>
              </a:r>
              <a:endParaRPr b="1" sz="13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Elevation values are projected into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transformer embeddings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Positional encoding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tells the model where each terrain point is located.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Transformer self-attention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processes the full terrain sequence.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Link parameters are embedded as a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scalar context token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Cross-attention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lets link parameters attend to relevant terrain positions.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Final head predicts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one path loss value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22"/>
          <p:cNvGrpSpPr/>
          <p:nvPr/>
        </p:nvGrpSpPr>
        <p:grpSpPr>
          <a:xfrm>
            <a:off x="4667250" y="1238250"/>
            <a:ext cx="4095900" cy="3333900"/>
            <a:chOff x="0" y="0"/>
            <a:chExt cx="4095900" cy="3333900"/>
          </a:xfrm>
        </p:grpSpPr>
        <p:sp>
          <p:nvSpPr>
            <p:cNvPr id="174" name="Google Shape;174;p22"/>
            <p:cNvSpPr/>
            <p:nvPr/>
          </p:nvSpPr>
          <p:spPr>
            <a:xfrm>
              <a:off x="0" y="0"/>
              <a:ext cx="4095900" cy="33339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142875" y="142875"/>
              <a:ext cx="381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625" lIns="47625" spcFirstLastPara="1" rIns="47625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569C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lang="en" sz="765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PathLossModel</a:t>
              </a:r>
              <a:r>
                <a:rPr lang="en" sz="765">
                  <a:solidFill>
                    <a:srgbClr val="569C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(nn.Module):</a:t>
              </a:r>
              <a:endParaRPr sz="765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def </a:t>
              </a:r>
              <a:r>
                <a:rPr lang="en" sz="765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__init__</a:t>
              </a: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(self):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super().__init__()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# ... configuration ...</a:t>
              </a:r>
              <a:endParaRPr sz="765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self.pos_encoding = PositionalEncoding(d_model, seq_len)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self.transformer = nn.TransformerEncoder(layer, layers)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self.cross_attention = nn.MultiheadAttention(d_model, heads)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self.head = nn.Sequential(nn.Linear(d_model*2, 256), ...)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def </a:t>
              </a:r>
              <a:r>
                <a:rPr lang="en" sz="765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forward</a:t>
              </a: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(self, features, elevation, mask=None):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# 1. Embed Scalars &amp; Terrain</a:t>
              </a:r>
              <a:endParaRPr sz="765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s_token = </a:t>
              </a: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elf.extra_features_embedding(features).unsqueeze(1)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pos_tokens = self.pos_encoding(elevation)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# 2. Self &amp; Cross Attention (approx)</a:t>
              </a:r>
              <a:endParaRPr sz="765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context, _ = self.cross_attention(query=pos_token, key=elevation_features, value=elevation_features, key_padding_mask=mask)</a:t>
              </a:r>
              <a:endParaRPr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# 3. Fuse &amp; Predict</a:t>
              </a:r>
              <a:endParaRPr sz="765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fused = torch.cat([s_token, context], dim=-1)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>
                  <a:solidFill>
                    <a:srgbClr val="CCCC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return self.head(fused).squeeze()</a:t>
              </a:r>
              <a:endParaRPr sz="765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381000" y="381000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b="1" sz="2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381000" y="904875"/>
            <a:ext cx="571500" cy="38100"/>
          </a:xfrm>
          <a:prstGeom prst="rect">
            <a:avLst/>
          </a:prstGeom>
          <a:solidFill>
            <a:srgbClr val="005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3"/>
          <p:cNvGrpSpPr/>
          <p:nvPr/>
        </p:nvGrpSpPr>
        <p:grpSpPr>
          <a:xfrm>
            <a:off x="381000" y="1143000"/>
            <a:ext cx="8382000" cy="571500"/>
            <a:chOff x="0" y="0"/>
            <a:chExt cx="8382000" cy="571500"/>
          </a:xfrm>
        </p:grpSpPr>
        <p:sp>
          <p:nvSpPr>
            <p:cNvPr id="183" name="Google Shape;183;p23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3"/>
            <p:cNvSpPr txBox="1"/>
            <p:nvPr/>
          </p:nvSpPr>
          <p:spPr>
            <a:xfrm>
              <a:off x="19050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Trained on over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7.8 million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ITM-generated samples spanning the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6 GHz band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with distances from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1.3 to 200 km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across diverse terrain types.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23"/>
          <p:cNvGrpSpPr/>
          <p:nvPr/>
        </p:nvGrpSpPr>
        <p:grpSpPr>
          <a:xfrm>
            <a:off x="381000" y="1905000"/>
            <a:ext cx="4095900" cy="2667000"/>
            <a:chOff x="0" y="0"/>
            <a:chExt cx="4095900" cy="2667000"/>
          </a:xfrm>
        </p:grpSpPr>
        <p:sp>
          <p:nvSpPr>
            <p:cNvPr id="186" name="Google Shape;186;p23"/>
            <p:cNvSpPr/>
            <p:nvPr/>
          </p:nvSpPr>
          <p:spPr>
            <a:xfrm>
              <a:off x="0" y="0"/>
              <a:ext cx="4095900" cy="2667000"/>
            </a:xfrm>
            <a:prstGeom prst="roundRect">
              <a:avLst>
                <a:gd fmla="val 357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3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DATASET &amp; PREPROCESSING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190500" y="5715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Provides terrain profiles, link features, and ITM target loss.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Elevation profiles padded/truncated to fixed length.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Sample-wise elevation normalization for stability.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Scalar feature normalization for mixed precision.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Padding masks prevent attention on fake positions.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3"/>
          <p:cNvGrpSpPr/>
          <p:nvPr/>
        </p:nvGrpSpPr>
        <p:grpSpPr>
          <a:xfrm>
            <a:off x="4667250" y="1905000"/>
            <a:ext cx="4095900" cy="1428900"/>
            <a:chOff x="0" y="0"/>
            <a:chExt cx="4095900" cy="1428900"/>
          </a:xfrm>
        </p:grpSpPr>
        <p:sp>
          <p:nvSpPr>
            <p:cNvPr id="190" name="Google Shape;190;p23"/>
            <p:cNvSpPr/>
            <p:nvPr/>
          </p:nvSpPr>
          <p:spPr>
            <a:xfrm>
              <a:off x="0" y="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3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OPTIMIZATION</a:t>
              </a:r>
              <a:endParaRPr b="1" sz="14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3"/>
            <p:cNvSpPr txBox="1"/>
            <p:nvPr/>
          </p:nvSpPr>
          <p:spPr>
            <a:xfrm>
              <a:off x="190500" y="5715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C4A6E"/>
                </a:buClr>
                <a:buSzPts val="1018"/>
                <a:buFont typeface="Arial"/>
                <a:buChar char="●"/>
              </a:pPr>
              <a:r>
                <a:rPr b="1"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Loss:</a:t>
              </a:r>
              <a:r>
                <a:rPr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Smooth L1 loss.</a:t>
              </a:r>
              <a:endParaRPr sz="1018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3211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C4A6E"/>
                </a:buClr>
                <a:buSzPts val="1018"/>
                <a:buFont typeface="Arial"/>
                <a:buChar char="●"/>
              </a:pPr>
              <a:r>
                <a:rPr b="1"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Optimizer:</a:t>
              </a:r>
              <a:r>
                <a:rPr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AdamW.</a:t>
              </a:r>
              <a:endParaRPr sz="1018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3211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C4A6E"/>
                </a:buClr>
                <a:buSzPts val="1018"/>
                <a:buFont typeface="Arial"/>
                <a:buChar char="●"/>
              </a:pPr>
              <a:r>
                <a:rPr b="1"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Precision:</a:t>
              </a:r>
              <a:r>
                <a:rPr lang="en" sz="1018">
                  <a:solidFill>
                    <a:srgbClr val="0C4A6E"/>
                  </a:solidFill>
                  <a:latin typeface="Arial"/>
                  <a:ea typeface="Arial"/>
                  <a:cs typeface="Arial"/>
                  <a:sym typeface="Arial"/>
                </a:rPr>
                <a:t> Mixed precision for speed and GPU memory.</a:t>
              </a:r>
              <a:endParaRPr sz="1018">
                <a:solidFill>
                  <a:srgbClr val="0C4A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3" name="Google Shape;193;p23"/>
          <p:cNvPicPr preferRelativeResize="0"/>
          <p:nvPr/>
        </p:nvPicPr>
        <p:blipFill rotWithShape="1">
          <a:blip r:embed="rId4">
            <a:alphaModFix/>
          </a:blip>
          <a:srcRect b="19631" l="0" r="0" t="19631"/>
          <a:stretch/>
        </p:blipFill>
        <p:spPr>
          <a:xfrm>
            <a:off x="4667250" y="3429000"/>
            <a:ext cx="40959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412150" y="4767625"/>
            <a:ext cx="8325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Trained on Cloud GPUs (RunPod) using   </a:t>
            </a:r>
            <a:r>
              <a:rPr lang="en" sz="1000">
                <a:solidFill>
                  <a:schemeClr val="dk2"/>
                </a:solidFill>
              </a:rPr>
              <a:t>Nvidia</a:t>
            </a:r>
            <a:r>
              <a:rPr lang="en" sz="1000">
                <a:solidFill>
                  <a:schemeClr val="dk2"/>
                </a:solidFill>
              </a:rPr>
              <a:t> RTX 2000 and RTX 5090 16/32GB 6vCPU 1 Epoch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4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200" name="Google Shape;200;p24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Training Result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24"/>
          <p:cNvGrpSpPr/>
          <p:nvPr/>
        </p:nvGrpSpPr>
        <p:grpSpPr>
          <a:xfrm>
            <a:off x="381000" y="1095375"/>
            <a:ext cx="8382000" cy="476400"/>
            <a:chOff x="0" y="0"/>
            <a:chExt cx="8382000" cy="476400"/>
          </a:xfrm>
        </p:grpSpPr>
        <p:sp>
          <p:nvSpPr>
            <p:cNvPr id="203" name="Google Shape;203;p24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160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4"/>
            <p:cNvSpPr txBox="1"/>
            <p:nvPr/>
          </p:nvSpPr>
          <p:spPr>
            <a:xfrm>
              <a:off x="1905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Note: It took close to a year and multiple trial and error to reach here. </a:t>
              </a:r>
              <a:r>
                <a:rPr b="1" lang="en" sz="11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Still not optimal.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4"/>
          <p:cNvGrpSpPr/>
          <p:nvPr/>
        </p:nvGrpSpPr>
        <p:grpSpPr>
          <a:xfrm>
            <a:off x="381000" y="1762125"/>
            <a:ext cx="5715095" cy="3000300"/>
            <a:chOff x="0" y="0"/>
            <a:chExt cx="5524500" cy="3000300"/>
          </a:xfrm>
        </p:grpSpPr>
        <p:sp>
          <p:nvSpPr>
            <p:cNvPr id="206" name="Google Shape;206;p24"/>
            <p:cNvSpPr/>
            <p:nvPr/>
          </p:nvSpPr>
          <p:spPr>
            <a:xfrm>
              <a:off x="0" y="0"/>
              <a:ext cx="5524500" cy="3000300"/>
            </a:xfrm>
            <a:prstGeom prst="roundRect">
              <a:avLst>
                <a:gd fmla="val 317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 txBox="1"/>
            <p:nvPr/>
          </p:nvSpPr>
          <p:spPr>
            <a:xfrm>
              <a:off x="190500" y="190500"/>
              <a:ext cx="24765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LOSS CURVE ANALYSIS</a:t>
              </a:r>
              <a:endParaRPr b="1" sz="12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Figure 2: Training loss over ~130k steps.</a:t>
              </a:r>
              <a:endParaRPr i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Arial"/>
                <a:buChar char="●"/>
              </a:pPr>
              <a:r>
                <a:rPr b="1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Rapid Learning (0-10k):</a:t>
              </a:r>
              <a:r>
                <a:rPr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Loss drops ~230 → ~10 as model learns terrain relationships.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Arial"/>
                <a:buChar char="●"/>
              </a:pPr>
              <a:r>
                <a:rPr b="1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Plateau (10k-130k):</a:t>
              </a:r>
              <a:r>
                <a:rPr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Oscillates between 3-10; suggests learning rate is too high.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34155"/>
                  </a:solidFill>
                </a:rPr>
                <a:t>Improvements</a:t>
              </a:r>
              <a:r>
                <a:rPr lang="en" sz="1000">
                  <a:solidFill>
                    <a:srgbClr val="334155"/>
                  </a:solidFill>
                </a:rPr>
                <a:t>: </a:t>
              </a:r>
              <a:r>
                <a:rPr lang="en" sz="1000">
                  <a:solidFill>
                    <a:srgbClr val="334155"/>
                  </a:solidFill>
                </a:rPr>
                <a:t>The m</a:t>
              </a:r>
              <a:r>
                <a:rPr lang="en" sz="1000">
                  <a:solidFill>
                    <a:srgbClr val="334155"/>
                  </a:solidFill>
                </a:rPr>
                <a:t>uch higher MAE, RMSE, 90th and 95th percentile errors </a:t>
              </a:r>
              <a:endParaRPr sz="10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34155"/>
                  </a:solidFill>
                </a:rPr>
                <a:t>show a heavy tail, where a minority of </a:t>
              </a:r>
              <a:endParaRPr sz="10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34155"/>
                  </a:solidFill>
                </a:rPr>
                <a:t>cases have large prediction errors. 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8" name="Google Shape;20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1394" y="2470144"/>
            <a:ext cx="3124599" cy="1584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4"/>
          <p:cNvGrpSpPr/>
          <p:nvPr/>
        </p:nvGrpSpPr>
        <p:grpSpPr>
          <a:xfrm>
            <a:off x="6121213" y="1762125"/>
            <a:ext cx="2667000" cy="3000300"/>
            <a:chOff x="0" y="0"/>
            <a:chExt cx="2667000" cy="3000300"/>
          </a:xfrm>
        </p:grpSpPr>
        <p:sp>
          <p:nvSpPr>
            <p:cNvPr id="210" name="Google Shape;210;p24"/>
            <p:cNvSpPr/>
            <p:nvPr/>
          </p:nvSpPr>
          <p:spPr>
            <a:xfrm>
              <a:off x="0" y="0"/>
              <a:ext cx="2667000" cy="30003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 txBox="1"/>
            <p:nvPr/>
          </p:nvSpPr>
          <p:spPr>
            <a:xfrm>
              <a:off x="190500" y="190500"/>
              <a:ext cx="2286000" cy="2619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ERROR METRICS</a:t>
              </a:r>
              <a:endParaRPr b="1" sz="14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RMSE: 17.85 dB</a:t>
              </a:r>
              <a:b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Root Mean Square Error - </a:t>
              </a:r>
              <a:r>
                <a:rPr lang="en" sz="900">
                  <a:solidFill>
                    <a:srgbClr val="64748B"/>
                  </a:solidFill>
                </a:rPr>
                <a:t>shows the typical error magnitude, but penalizes large errors more heavily - outliers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MAE: 10.94 dB</a:t>
              </a:r>
              <a:b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Mean Absolute Error (Simple Average)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Median Error: 5.00 dB</a:t>
              </a:r>
              <a:b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Indicates 50% of results are in a respectable range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90th Percentile: 31.02 dB</a:t>
              </a:r>
              <a:b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10% have 31 dB or more error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95th Percentile: 41.59 dB</a:t>
              </a:r>
              <a:b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5% have 41.59 dB or more error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5"/>
          <p:cNvGrpSpPr/>
          <p:nvPr/>
        </p:nvGrpSpPr>
        <p:grpSpPr>
          <a:xfrm>
            <a:off x="381000" y="381000"/>
            <a:ext cx="8382000" cy="561975"/>
            <a:chOff x="0" y="0"/>
            <a:chExt cx="8382000" cy="561975"/>
          </a:xfrm>
        </p:grpSpPr>
        <p:sp>
          <p:nvSpPr>
            <p:cNvPr id="217" name="Google Shape;217;p25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b="1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5"/>
            <p:cNvSpPr/>
            <p:nvPr/>
          </p:nvSpPr>
          <p:spPr>
            <a:xfrm>
              <a:off x="0" y="523875"/>
              <a:ext cx="571500" cy="38100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5"/>
          <p:cNvGrpSpPr/>
          <p:nvPr/>
        </p:nvGrpSpPr>
        <p:grpSpPr>
          <a:xfrm>
            <a:off x="381000" y="1238250"/>
            <a:ext cx="2600400" cy="3048000"/>
            <a:chOff x="0" y="0"/>
            <a:chExt cx="2600400" cy="3048000"/>
          </a:xfrm>
        </p:grpSpPr>
        <p:sp>
          <p:nvSpPr>
            <p:cNvPr id="220" name="Google Shape;220;p25"/>
            <p:cNvSpPr/>
            <p:nvPr/>
          </p:nvSpPr>
          <p:spPr>
            <a:xfrm>
              <a:off x="0" y="0"/>
              <a:ext cx="2600400" cy="3048000"/>
            </a:xfrm>
            <a:prstGeom prst="roundRect">
              <a:avLst>
                <a:gd fmla="val 366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190500" y="190500"/>
              <a:ext cx="2219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Architecture Validation</a:t>
              </a:r>
              <a:endParaRPr b="1" sz="11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overall intuition of the model architecture seems correct based on the observed training loss trends.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5"/>
          <p:cNvGrpSpPr/>
          <p:nvPr/>
        </p:nvGrpSpPr>
        <p:grpSpPr>
          <a:xfrm>
            <a:off x="3267075" y="1238250"/>
            <a:ext cx="2600400" cy="3048000"/>
            <a:chOff x="0" y="0"/>
            <a:chExt cx="2600400" cy="3048000"/>
          </a:xfrm>
        </p:grpSpPr>
        <p:sp>
          <p:nvSpPr>
            <p:cNvPr id="223" name="Google Shape;223;p25"/>
            <p:cNvSpPr/>
            <p:nvPr/>
          </p:nvSpPr>
          <p:spPr>
            <a:xfrm>
              <a:off x="0" y="0"/>
              <a:ext cx="2600400" cy="3048000"/>
            </a:xfrm>
            <a:prstGeom prst="roundRect">
              <a:avLst>
                <a:gd fmla="val 366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5"/>
            <p:cNvSpPr txBox="1"/>
            <p:nvPr/>
          </p:nvSpPr>
          <p:spPr>
            <a:xfrm>
              <a:off x="190500" y="190500"/>
              <a:ext cx="2219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Areas for Improvement</a:t>
              </a:r>
              <a:endParaRPr b="1" sz="11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Continuous refinements are necessary across two primary vectors: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Model Refinement: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Enhancing internal logic and parameters.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Data Quality: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Optimizing generated training data for better coverage.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25"/>
          <p:cNvGrpSpPr/>
          <p:nvPr/>
        </p:nvGrpSpPr>
        <p:grpSpPr>
          <a:xfrm>
            <a:off x="6162675" y="1238250"/>
            <a:ext cx="2600400" cy="3048000"/>
            <a:chOff x="0" y="0"/>
            <a:chExt cx="2600400" cy="3048000"/>
          </a:xfrm>
        </p:grpSpPr>
        <p:sp>
          <p:nvSpPr>
            <p:cNvPr id="226" name="Google Shape;226;p25"/>
            <p:cNvSpPr/>
            <p:nvPr/>
          </p:nvSpPr>
          <p:spPr>
            <a:xfrm>
              <a:off x="0" y="0"/>
              <a:ext cx="2600400" cy="3048000"/>
            </a:xfrm>
            <a:prstGeom prst="roundRect">
              <a:avLst>
                <a:gd fmla="val 366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5"/>
            <p:cNvSpPr txBox="1"/>
            <p:nvPr/>
          </p:nvSpPr>
          <p:spPr>
            <a:xfrm>
              <a:off x="190500" y="190500"/>
              <a:ext cx="2219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AFF"/>
                  </a:solidFill>
                  <a:latin typeface="Arial"/>
                  <a:ea typeface="Arial"/>
                  <a:cs typeface="Arial"/>
                  <a:sym typeface="Arial"/>
                </a:rPr>
                <a:t>Next Steps</a:t>
              </a:r>
              <a:endParaRPr b="1" sz="1100">
                <a:solidFill>
                  <a:srgbClr val="005A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Planned experimentation focusing on scaling the transformer architecture: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Increasing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model depth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for complex pattern recognition.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Expanding the </a:t>
              </a:r>
              <a:r>
                <a:rPr b="1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number of attention heads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Iterative testing of new hyperparameters.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